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1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74" r:id="rId10"/>
    <p:sldId id="267" r:id="rId11"/>
    <p:sldId id="268" r:id="rId12"/>
    <p:sldId id="269" r:id="rId13"/>
    <p:sldId id="270" r:id="rId14"/>
    <p:sldId id="263" r:id="rId15"/>
    <p:sldId id="272" r:id="rId16"/>
    <p:sldId id="264" r:id="rId17"/>
    <p:sldId id="265" r:id="rId18"/>
    <p:sldId id="266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9"/>
  </p:normalViewPr>
  <p:slideViewPr>
    <p:cSldViewPr snapToGrid="0">
      <p:cViewPr varScale="1">
        <p:scale>
          <a:sx n="104" d="100"/>
          <a:sy n="104" d="100"/>
        </p:scale>
        <p:origin x="188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C72DF-6693-064A-A50B-F8A1C423B6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99F61-7E9D-FF45-B705-D43E87C52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4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99F61-7E9D-FF45-B705-D43E87C521C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25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65100" ty="-7620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67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8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65100" ty="-7620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971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2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4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1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55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4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058F-B960-4439-B370-43D89816EE05}" type="datetimeFigureOut">
              <a:rPr lang="en-US" dirty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9B06-CF2A-459A-8CBC-F18C1D67D2BB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81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1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96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61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hamedghorbani/100-sports-classification-efficientnetb0-97-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076-3417/10/23/8494" TargetMode="External"/><Relationship Id="rId5" Type="http://schemas.openxmlformats.org/officeDocument/2006/relationships/hyperlink" Target="https://www.atlantis-press.com/proceedings/dai-23/125998112" TargetMode="External"/><Relationship Id="rId4" Type="http://schemas.openxmlformats.org/officeDocument/2006/relationships/hyperlink" Target="https://www.kaggle.com/code/ishaparanjpe/sports-classification-resnet-transfer-learning/noteboo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100 Sports Image Classification Using EfficientNetB0 and ResNet50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Times New Roman"/>
                <a:cs typeface="Times New Roman"/>
              </a:rPr>
              <a:t>Exploring Ensemble Learning and Fine-Tuning</a:t>
            </a:r>
          </a:p>
          <a:p>
            <a:r>
              <a:rPr lang="en-US" sz="1800" b="1">
                <a:solidFill>
                  <a:schemeClr val="tx1"/>
                </a:solidFill>
                <a:latin typeface="Times New Roman"/>
                <a:cs typeface="Times New Roman"/>
              </a:rPr>
              <a:t>By</a:t>
            </a:r>
          </a:p>
          <a:p>
            <a:r>
              <a:rPr lang="en-US" sz="1800" b="1">
                <a:solidFill>
                  <a:schemeClr val="tx1"/>
                </a:solidFill>
                <a:latin typeface="Times New Roman"/>
                <a:cs typeface="Times New Roman"/>
              </a:rPr>
              <a:t>John Yare</a:t>
            </a:r>
          </a:p>
          <a:p>
            <a:r>
              <a:rPr lang="en-US" sz="1800" b="1">
                <a:solidFill>
                  <a:schemeClr val="tx1"/>
                </a:solidFill>
                <a:latin typeface="Times New Roman"/>
                <a:cs typeface="Times New Roman"/>
              </a:rPr>
              <a:t>&amp; Joshua Adegbola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708" y="731837"/>
            <a:ext cx="3269931" cy="1143000"/>
          </a:xfrm>
        </p:spPr>
        <p:txBody>
          <a:bodyPr>
            <a:normAutofit/>
          </a:bodyPr>
          <a:lstStyle/>
          <a:p>
            <a:r>
              <a:rPr sz="3000" b="1">
                <a:latin typeface="Times New Roman"/>
                <a:cs typeface="Times New Roman"/>
              </a:rPr>
              <a:t>Overview</a:t>
            </a:r>
            <a:endParaRPr lang="en-US" sz="3000" b="1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3" y="1876051"/>
            <a:ext cx="9133032" cy="3901656"/>
          </a:xfrm>
        </p:spPr>
        <p:txBody>
          <a:bodyPr vert="horz" lIns="45720" tIns="45720" rIns="4572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1900">
                <a:latin typeface="Times New Roman"/>
                <a:cs typeface="Times New Roman"/>
              </a:rPr>
              <a:t>Objective: Classify 100 sports image categories using</a:t>
            </a:r>
            <a:r>
              <a:rPr lang="en-US" sz="1900">
                <a:latin typeface="Times New Roman"/>
                <a:cs typeface="Times New Roman"/>
              </a:rPr>
              <a:t> an ensemble model by combining predictions of a Vision </a:t>
            </a:r>
            <a:r>
              <a:rPr sz="1900">
                <a:latin typeface="Times New Roman"/>
                <a:cs typeface="Times New Roman"/>
              </a:rPr>
              <a:t>Transformer </a:t>
            </a:r>
            <a:r>
              <a:rPr lang="en-US" sz="1900">
                <a:latin typeface="Times New Roman"/>
                <a:cs typeface="Times New Roman"/>
              </a:rPr>
              <a:t>alternative model available in </a:t>
            </a:r>
            <a:r>
              <a:rPr lang="en-US" sz="1900" err="1">
                <a:latin typeface="Times New Roman"/>
                <a:cs typeface="Times New Roman"/>
              </a:rPr>
              <a:t>keras</a:t>
            </a:r>
            <a:r>
              <a:rPr lang="en-US" sz="1900">
                <a:latin typeface="Times New Roman"/>
                <a:cs typeface="Times New Roman"/>
              </a:rPr>
              <a:t> (EfficientNetB0) and ResNet50 model</a:t>
            </a:r>
            <a:r>
              <a:rPr sz="1900">
                <a:latin typeface="Times New Roman"/>
                <a:cs typeface="Times New Roman"/>
              </a:rPr>
              <a:t>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1900">
                <a:latin typeface="Times New Roman"/>
                <a:cs typeface="Times New Roman"/>
              </a:rPr>
              <a:t>Models: EfficientNetB0 and ResNet50.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1900">
                <a:latin typeface="Times New Roman"/>
                <a:cs typeface="Times New Roman"/>
              </a:rPr>
              <a:t>Dataset:</a:t>
            </a:r>
            <a:endParaRPr lang="en-US" sz="1900">
              <a:latin typeface="Times New Roman"/>
              <a:cs typeface="Times New Roman"/>
            </a:endParaRPr>
          </a:p>
          <a:p>
            <a:pPr marL="264795" lvl="1">
              <a:buFont typeface="Arial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Initial manipulated dataset had less training data.</a:t>
            </a:r>
          </a:p>
          <a:p>
            <a:pPr marL="264795" lvl="1">
              <a:buFont typeface="Arial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Reverted to baseline dataset for better performance and more variety of data in training.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900">
                <a:latin typeface="Times New Roman"/>
                <a:cs typeface="Times New Roman"/>
              </a:rPr>
              <a:t>Achievements:</a:t>
            </a:r>
          </a:p>
          <a:p>
            <a:pPr marL="264795" lvl="1">
              <a:buFont typeface="Arial" panose="020B0604020202020204" pitchFamily="34" charset="0"/>
              <a:buChar char="•"/>
            </a:pPr>
            <a:r>
              <a:rPr sz="1900">
                <a:latin typeface="Times New Roman"/>
                <a:cs typeface="Times New Roman"/>
              </a:rPr>
              <a:t>Achieved </a:t>
            </a:r>
            <a:r>
              <a:rPr lang="en-US" sz="1900">
                <a:latin typeface="Times New Roman"/>
                <a:cs typeface="Times New Roman"/>
              </a:rPr>
              <a:t>92.6</a:t>
            </a:r>
            <a:r>
              <a:rPr sz="1900">
                <a:latin typeface="Times New Roman"/>
                <a:cs typeface="Times New Roman"/>
              </a:rPr>
              <a:t>% test accuracy with EfficientNetB0</a:t>
            </a:r>
            <a:r>
              <a:rPr lang="en-US" sz="1900">
                <a:latin typeface="Times New Roman"/>
                <a:cs typeface="Times New Roman"/>
              </a:rPr>
              <a:t> model</a:t>
            </a:r>
            <a:r>
              <a:rPr sz="1900">
                <a:latin typeface="Times New Roman"/>
                <a:cs typeface="Times New Roman"/>
              </a:rPr>
              <a:t>.</a:t>
            </a:r>
            <a:endParaRPr lang="en-US" sz="1900">
              <a:latin typeface="Times New Roman"/>
              <a:cs typeface="Times New Roman"/>
            </a:endParaRPr>
          </a:p>
          <a:p>
            <a:pPr marL="264795" lvl="1">
              <a:buFont typeface="Arial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Achieved 96.2% test accuracy with ResNet50 model.</a:t>
            </a:r>
          </a:p>
          <a:p>
            <a:pPr marL="264795" lvl="1">
              <a:buFont typeface="Arial" panose="020B0604020202020204" pitchFamily="34" charset="0"/>
              <a:buChar char="•"/>
            </a:pPr>
            <a:r>
              <a:rPr sz="1900">
                <a:latin typeface="Times New Roman"/>
                <a:cs typeface="Times New Roman"/>
              </a:rPr>
              <a:t>Combined predictions from EfficientNetB0 and ResNet50 </a:t>
            </a:r>
            <a:r>
              <a:rPr lang="en-US" sz="1900">
                <a:latin typeface="Times New Roman"/>
                <a:cs typeface="Times New Roman"/>
              </a:rPr>
              <a:t>by optimizing </a:t>
            </a:r>
            <a:r>
              <a:rPr lang="en-US" sz="1900">
                <a:latin typeface="Times New Roman"/>
                <a:ea typeface="+mn-lt"/>
                <a:cs typeface="+mn-lt"/>
              </a:rPr>
              <a:t>weights for each model, based on each model's validation performances</a:t>
            </a:r>
            <a:r>
              <a:rPr lang="en-US" sz="1900">
                <a:latin typeface="Times New Roman"/>
                <a:cs typeface="Times New Roman"/>
              </a:rPr>
              <a:t>, into an ensemble model to improve the model's performance</a:t>
            </a:r>
            <a:r>
              <a:rPr sz="1900">
                <a:latin typeface="Times New Roman"/>
                <a:cs typeface="Times New Roman"/>
              </a:rPr>
              <a:t>.</a:t>
            </a:r>
          </a:p>
          <a:p>
            <a:pPr marL="264795" lvl="1">
              <a:buFont typeface="Arial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Achieved 90%  test accuracy with ensemble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B936-D0F9-FD59-39EA-198F5E90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58" y="974995"/>
            <a:ext cx="7279520" cy="614713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Block Diagrams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42E1AD1-154F-61CA-A7AA-502999788078}"/>
              </a:ext>
            </a:extLst>
          </p:cNvPr>
          <p:cNvSpPr txBox="1"/>
          <p:nvPr/>
        </p:nvSpPr>
        <p:spPr>
          <a:xfrm>
            <a:off x="1776648" y="6493384"/>
            <a:ext cx="5506636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/>
                <a:cs typeface="Times New Roman"/>
              </a:rPr>
              <a:t>Block Diagram: Dataset Loading to Ensemble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C3A0CB-9F00-4B8E-5ACB-0B31B8E94FD2}"/>
              </a:ext>
            </a:extLst>
          </p:cNvPr>
          <p:cNvSpPr/>
          <p:nvPr/>
        </p:nvSpPr>
        <p:spPr>
          <a:xfrm>
            <a:off x="-1" y="1790876"/>
            <a:ext cx="2918073" cy="203316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291A45-E87C-5518-679D-426127E5419F}"/>
              </a:ext>
            </a:extLst>
          </p:cNvPr>
          <p:cNvSpPr/>
          <p:nvPr/>
        </p:nvSpPr>
        <p:spPr>
          <a:xfrm>
            <a:off x="126415" y="2159584"/>
            <a:ext cx="758489" cy="51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22BA3-8424-AFFC-5BDA-B3AAC48A19F3}"/>
              </a:ext>
            </a:extLst>
          </p:cNvPr>
          <p:cNvSpPr txBox="1"/>
          <p:nvPr/>
        </p:nvSpPr>
        <p:spPr>
          <a:xfrm>
            <a:off x="94809" y="2159584"/>
            <a:ext cx="8322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Training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09E24-6704-ED8A-7EA1-4A527EB9A1ED}"/>
              </a:ext>
            </a:extLst>
          </p:cNvPr>
          <p:cNvSpPr txBox="1"/>
          <p:nvPr/>
        </p:nvSpPr>
        <p:spPr>
          <a:xfrm>
            <a:off x="726885" y="1854083"/>
            <a:ext cx="12957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Dataset loading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02D648-1E3D-0FA7-612F-60B98B970B70}"/>
              </a:ext>
            </a:extLst>
          </p:cNvPr>
          <p:cNvSpPr/>
          <p:nvPr/>
        </p:nvSpPr>
        <p:spPr>
          <a:xfrm>
            <a:off x="1032387" y="2149048"/>
            <a:ext cx="842765" cy="5267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BBFDF4-4653-0154-5D51-24EBD552B404}"/>
              </a:ext>
            </a:extLst>
          </p:cNvPr>
          <p:cNvSpPr/>
          <p:nvPr/>
        </p:nvSpPr>
        <p:spPr>
          <a:xfrm>
            <a:off x="2022635" y="2159582"/>
            <a:ext cx="758489" cy="51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0224E-92C8-C665-5CEC-8E169803408A}"/>
              </a:ext>
            </a:extLst>
          </p:cNvPr>
          <p:cNvSpPr txBox="1"/>
          <p:nvPr/>
        </p:nvSpPr>
        <p:spPr>
          <a:xfrm>
            <a:off x="1000780" y="2159583"/>
            <a:ext cx="91650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Validation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50825D-A9D2-0A61-BF76-01A13F6AFCED}"/>
              </a:ext>
            </a:extLst>
          </p:cNvPr>
          <p:cNvSpPr txBox="1"/>
          <p:nvPr/>
        </p:nvSpPr>
        <p:spPr>
          <a:xfrm>
            <a:off x="1991030" y="2254395"/>
            <a:ext cx="83222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Test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51EFEB-EED2-A07F-4368-E90CDDBBA74B}"/>
              </a:ext>
            </a:extLst>
          </p:cNvPr>
          <p:cNvSpPr/>
          <p:nvPr/>
        </p:nvSpPr>
        <p:spPr>
          <a:xfrm>
            <a:off x="884902" y="3086623"/>
            <a:ext cx="1137732" cy="51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B4A2AC-59CB-23CC-A4B0-D63337F832C7}"/>
              </a:ext>
            </a:extLst>
          </p:cNvPr>
          <p:cNvSpPr txBox="1"/>
          <p:nvPr/>
        </p:nvSpPr>
        <p:spPr>
          <a:xfrm>
            <a:off x="884901" y="3086624"/>
            <a:ext cx="11587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Preprocessed data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CD7262-6773-8641-62CE-0C1BFFDA0948}"/>
              </a:ext>
            </a:extLst>
          </p:cNvPr>
          <p:cNvSpPr/>
          <p:nvPr/>
        </p:nvSpPr>
        <p:spPr>
          <a:xfrm>
            <a:off x="3307850" y="1854082"/>
            <a:ext cx="2939142" cy="233867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CC42D5-112C-8996-1D87-4CF181672C9C}"/>
              </a:ext>
            </a:extLst>
          </p:cNvPr>
          <p:cNvSpPr txBox="1"/>
          <p:nvPr/>
        </p:nvSpPr>
        <p:spPr>
          <a:xfrm>
            <a:off x="3402663" y="1959428"/>
            <a:ext cx="2918074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latin typeface="Times New Roman"/>
                <a:cs typeface="Times New Roman"/>
              </a:rPr>
              <a:t>EfficientNetB0 Model Training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B197E9-0245-F067-F7A6-47AF3F2EE708}"/>
              </a:ext>
            </a:extLst>
          </p:cNvPr>
          <p:cNvSpPr/>
          <p:nvPr/>
        </p:nvSpPr>
        <p:spPr>
          <a:xfrm>
            <a:off x="3476405" y="2422949"/>
            <a:ext cx="2591501" cy="16539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8D30FD-3E2E-A468-0C5A-818832DF976B}"/>
              </a:ext>
            </a:extLst>
          </p:cNvPr>
          <p:cNvSpPr txBox="1"/>
          <p:nvPr/>
        </p:nvSpPr>
        <p:spPr>
          <a:xfrm>
            <a:off x="3476405" y="2422949"/>
            <a:ext cx="25915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- Load pre-trained EfficientNetB0 with ImageNet weights</a:t>
            </a:r>
          </a:p>
          <a:p>
            <a:r>
              <a:rPr lang="en-US" sz="1400">
                <a:latin typeface="Times New Roman"/>
                <a:cs typeface="Times New Roman"/>
              </a:rPr>
              <a:t>- Freeze pretrained layers and add custom layers</a:t>
            </a:r>
          </a:p>
          <a:p>
            <a:r>
              <a:rPr lang="en-US" sz="1400">
                <a:latin typeface="Times New Roman"/>
                <a:cs typeface="Times New Roman"/>
              </a:rPr>
              <a:t>- Train model using augmented training data with callbacks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9A9EF4-C584-C829-6C0E-8DE3CC487484}"/>
              </a:ext>
            </a:extLst>
          </p:cNvPr>
          <p:cNvCxnSpPr/>
          <p:nvPr/>
        </p:nvCxnSpPr>
        <p:spPr>
          <a:xfrm>
            <a:off x="653142" y="2738986"/>
            <a:ext cx="526728" cy="242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A59439-9B4D-D07E-98B7-84A62511D0CF}"/>
              </a:ext>
            </a:extLst>
          </p:cNvPr>
          <p:cNvCxnSpPr/>
          <p:nvPr/>
        </p:nvCxnSpPr>
        <p:spPr>
          <a:xfrm>
            <a:off x="1401097" y="2665244"/>
            <a:ext cx="10534" cy="358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1786B6-8D99-A5F9-C818-79107F4F931B}"/>
              </a:ext>
            </a:extLst>
          </p:cNvPr>
          <p:cNvCxnSpPr>
            <a:cxnSpLocks/>
          </p:cNvCxnSpPr>
          <p:nvPr/>
        </p:nvCxnSpPr>
        <p:spPr>
          <a:xfrm flipH="1">
            <a:off x="1801409" y="2707382"/>
            <a:ext cx="558330" cy="337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F91575C-64E5-1622-8F66-C7BC20F6829A}"/>
              </a:ext>
            </a:extLst>
          </p:cNvPr>
          <p:cNvSpPr/>
          <p:nvPr/>
        </p:nvSpPr>
        <p:spPr>
          <a:xfrm>
            <a:off x="2928608" y="2770589"/>
            <a:ext cx="379244" cy="252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7516DD46-7692-B5F4-1FA2-F86CC52730CF}"/>
              </a:ext>
            </a:extLst>
          </p:cNvPr>
          <p:cNvSpPr/>
          <p:nvPr/>
        </p:nvSpPr>
        <p:spPr>
          <a:xfrm>
            <a:off x="6246994" y="2738984"/>
            <a:ext cx="379244" cy="252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BB9B5E-3EA1-4C17-0E90-5AF8DC5019A0}"/>
              </a:ext>
            </a:extLst>
          </p:cNvPr>
          <p:cNvSpPr/>
          <p:nvPr/>
        </p:nvSpPr>
        <p:spPr>
          <a:xfrm>
            <a:off x="6647306" y="1875149"/>
            <a:ext cx="2538828" cy="464574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A5ADD7-029F-048D-117A-A8E721348CD0}"/>
              </a:ext>
            </a:extLst>
          </p:cNvPr>
          <p:cNvSpPr txBox="1"/>
          <p:nvPr/>
        </p:nvSpPr>
        <p:spPr>
          <a:xfrm>
            <a:off x="6963345" y="1875152"/>
            <a:ext cx="2201723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latin typeface="Times New Roman"/>
                <a:cs typeface="Times New Roman"/>
              </a:rPr>
              <a:t>Ensemble evaluation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F0D76E-26D8-9510-612E-6E12012118FE}"/>
              </a:ext>
            </a:extLst>
          </p:cNvPr>
          <p:cNvSpPr/>
          <p:nvPr/>
        </p:nvSpPr>
        <p:spPr>
          <a:xfrm>
            <a:off x="6742120" y="2222793"/>
            <a:ext cx="2338672" cy="3792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7A212A-F114-42A2-9195-692B780FA23F}"/>
              </a:ext>
            </a:extLst>
          </p:cNvPr>
          <p:cNvSpPr/>
          <p:nvPr/>
        </p:nvSpPr>
        <p:spPr>
          <a:xfrm>
            <a:off x="6731584" y="2897004"/>
            <a:ext cx="2338672" cy="3792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99F30B-BB12-A496-BB86-B0ED8F6F4376}"/>
              </a:ext>
            </a:extLst>
          </p:cNvPr>
          <p:cNvSpPr/>
          <p:nvPr/>
        </p:nvSpPr>
        <p:spPr>
          <a:xfrm>
            <a:off x="6742120" y="3571216"/>
            <a:ext cx="2338672" cy="5056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057798-000F-4B36-0739-9F4298EE8625}"/>
              </a:ext>
            </a:extLst>
          </p:cNvPr>
          <p:cNvSpPr/>
          <p:nvPr/>
        </p:nvSpPr>
        <p:spPr>
          <a:xfrm>
            <a:off x="6731585" y="4445584"/>
            <a:ext cx="2338672" cy="5267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AFCC03-E4CA-D7C2-8129-5157A2D38397}"/>
              </a:ext>
            </a:extLst>
          </p:cNvPr>
          <p:cNvSpPr/>
          <p:nvPr/>
        </p:nvSpPr>
        <p:spPr>
          <a:xfrm>
            <a:off x="6742120" y="5435835"/>
            <a:ext cx="2338672" cy="10218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DF5C9D-1EE5-E990-E526-707BC9C170B2}"/>
              </a:ext>
            </a:extLst>
          </p:cNvPr>
          <p:cNvSpPr txBox="1"/>
          <p:nvPr/>
        </p:nvSpPr>
        <p:spPr>
          <a:xfrm>
            <a:off x="6826396" y="2243861"/>
            <a:ext cx="218486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Load ResNet50 model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581609-A688-D6F2-8D47-438C6D6614B9}"/>
              </a:ext>
            </a:extLst>
          </p:cNvPr>
          <p:cNvSpPr txBox="1"/>
          <p:nvPr/>
        </p:nvSpPr>
        <p:spPr>
          <a:xfrm>
            <a:off x="6805326" y="2939141"/>
            <a:ext cx="21848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Load EfficientNetB0 model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93B1A9-DA7A-DBFE-D9F9-2237B9EDCA9B}"/>
              </a:ext>
            </a:extLst>
          </p:cNvPr>
          <p:cNvSpPr txBox="1"/>
          <p:nvPr/>
        </p:nvSpPr>
        <p:spPr>
          <a:xfrm>
            <a:off x="6826395" y="3550146"/>
            <a:ext cx="218486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- Weighted averaging</a:t>
            </a:r>
          </a:p>
          <a:p>
            <a:r>
              <a:rPr lang="en-US" sz="1400">
                <a:latin typeface="Times New Roman"/>
                <a:cs typeface="Times New Roman"/>
              </a:rPr>
              <a:t>- Combine predictions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D0A29A-E4B9-5931-EC3C-A52C7C7B6486}"/>
              </a:ext>
            </a:extLst>
          </p:cNvPr>
          <p:cNvSpPr txBox="1"/>
          <p:nvPr/>
        </p:nvSpPr>
        <p:spPr>
          <a:xfrm>
            <a:off x="6805326" y="5362091"/>
            <a:ext cx="218486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- Print accuracy, F1, and metrics</a:t>
            </a:r>
          </a:p>
          <a:p>
            <a:r>
              <a:rPr lang="en-US" sz="1400">
                <a:latin typeface="Times New Roman"/>
                <a:cs typeface="Times New Roman"/>
              </a:rPr>
              <a:t>- Plot confusion matrix, show predictions and errors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165065-3666-DE83-C15B-9E4C6E9F5892}"/>
              </a:ext>
            </a:extLst>
          </p:cNvPr>
          <p:cNvSpPr txBox="1"/>
          <p:nvPr/>
        </p:nvSpPr>
        <p:spPr>
          <a:xfrm>
            <a:off x="6742119" y="5109261"/>
            <a:ext cx="2543043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latin typeface="Times New Roman"/>
                <a:cs typeface="Times New Roman"/>
              </a:rPr>
              <a:t>Final result and visualization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0FAF3A-14E8-1C10-5CDB-B1442A42E763}"/>
              </a:ext>
            </a:extLst>
          </p:cNvPr>
          <p:cNvSpPr txBox="1"/>
          <p:nvPr/>
        </p:nvSpPr>
        <p:spPr>
          <a:xfrm>
            <a:off x="6826396" y="4445584"/>
            <a:ext cx="218486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Calculate accuracy, F1, and confusion matrix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87EA38-C00C-6133-0E61-22E9B03DD0A5}"/>
              </a:ext>
            </a:extLst>
          </p:cNvPr>
          <p:cNvSpPr/>
          <p:nvPr/>
        </p:nvSpPr>
        <p:spPr>
          <a:xfrm>
            <a:off x="2018410" y="4346324"/>
            <a:ext cx="2918073" cy="203316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91DA378-17EB-F214-4440-D28FA5DC3DE4}"/>
              </a:ext>
            </a:extLst>
          </p:cNvPr>
          <p:cNvSpPr/>
          <p:nvPr/>
        </p:nvSpPr>
        <p:spPr>
          <a:xfrm rot="5400000">
            <a:off x="2514763" y="3953002"/>
            <a:ext cx="379244" cy="252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2834AC0C-2DD2-3D6E-68B0-AB815774B1DC}"/>
              </a:ext>
            </a:extLst>
          </p:cNvPr>
          <p:cNvSpPr/>
          <p:nvPr/>
        </p:nvSpPr>
        <p:spPr>
          <a:xfrm>
            <a:off x="7690230" y="2623106"/>
            <a:ext cx="347640" cy="231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85FC3959-D728-9E14-A9A2-6304CE16D49F}"/>
              </a:ext>
            </a:extLst>
          </p:cNvPr>
          <p:cNvSpPr/>
          <p:nvPr/>
        </p:nvSpPr>
        <p:spPr>
          <a:xfrm>
            <a:off x="7721833" y="3276248"/>
            <a:ext cx="347640" cy="231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F83B6BE2-DC93-33D9-C1FA-89B7A6156485}"/>
              </a:ext>
            </a:extLst>
          </p:cNvPr>
          <p:cNvSpPr/>
          <p:nvPr/>
        </p:nvSpPr>
        <p:spPr>
          <a:xfrm>
            <a:off x="7721833" y="4150617"/>
            <a:ext cx="347640" cy="231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5D0BB6FB-843C-4185-9F82-9755A4EFFE99}"/>
              </a:ext>
            </a:extLst>
          </p:cNvPr>
          <p:cNvSpPr/>
          <p:nvPr/>
        </p:nvSpPr>
        <p:spPr>
          <a:xfrm>
            <a:off x="7690229" y="4972313"/>
            <a:ext cx="326571" cy="2106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EBCD16-265D-F917-794A-B3A9F0296948}"/>
              </a:ext>
            </a:extLst>
          </p:cNvPr>
          <p:cNvSpPr txBox="1"/>
          <p:nvPr/>
        </p:nvSpPr>
        <p:spPr>
          <a:xfrm>
            <a:off x="2190688" y="4442497"/>
            <a:ext cx="2918074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latin typeface="Times New Roman"/>
                <a:cs typeface="Times New Roman"/>
              </a:rPr>
              <a:t>ResNet50 Model Training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A871B5-B463-88D3-1C00-490B72CD8341}"/>
              </a:ext>
            </a:extLst>
          </p:cNvPr>
          <p:cNvSpPr txBox="1"/>
          <p:nvPr/>
        </p:nvSpPr>
        <p:spPr>
          <a:xfrm>
            <a:off x="2186283" y="4806121"/>
            <a:ext cx="2580966" cy="15696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- Load Pre-trained ResNet50</a:t>
            </a:r>
          </a:p>
          <a:p>
            <a:r>
              <a:rPr lang="en-US" sz="1600" dirty="0">
                <a:latin typeface="Times New Roman"/>
                <a:cs typeface="Times New Roman"/>
              </a:rPr>
              <a:t>- Freeze layers(Trainable Dense)</a:t>
            </a:r>
          </a:p>
          <a:p>
            <a:r>
              <a:rPr lang="en-US" sz="1600" dirty="0">
                <a:latin typeface="Times New Roman"/>
                <a:cs typeface="Times New Roman"/>
              </a:rPr>
              <a:t>- Train model</a:t>
            </a:r>
          </a:p>
          <a:p>
            <a:r>
              <a:rPr lang="en-US" sz="1600" dirty="0">
                <a:latin typeface="Times New Roman"/>
                <a:cs typeface="Times New Roman"/>
              </a:rPr>
              <a:t>-Evaluate Model(Test Accuracy)</a:t>
            </a: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0A15E128-EAE8-4625-FF38-EB067BC0B3FB}"/>
              </a:ext>
            </a:extLst>
          </p:cNvPr>
          <p:cNvSpPr/>
          <p:nvPr/>
        </p:nvSpPr>
        <p:spPr>
          <a:xfrm>
            <a:off x="5015313" y="4808207"/>
            <a:ext cx="1630630" cy="5484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21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>
                <a:latin typeface="Times New Roman"/>
                <a:cs typeface="Times New Roman"/>
              </a:rPr>
              <a:t>Dataset Preparation</a:t>
            </a:r>
            <a:endParaRPr lang="en-US" sz="3000" b="1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86" y="2230080"/>
            <a:ext cx="3777523" cy="1490248"/>
          </a:xfrm>
        </p:spPr>
        <p:txBody>
          <a:bodyPr vert="horz" lIns="45720" tIns="45720" rIns="4572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>
                <a:latin typeface="Times New Roman"/>
                <a:cs typeface="Times New Roman"/>
              </a:rPr>
              <a:t>Dataset paths for training, validation, and testing.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>
                <a:latin typeface="Times New Roman"/>
                <a:cs typeface="Times New Roman"/>
              </a:rPr>
              <a:t>Used Label Encoder for class label encoding.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>
                <a:latin typeface="Times New Roman"/>
                <a:cs typeface="Times New Roman"/>
              </a:rPr>
              <a:t>Visualized class distribution in training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10034" y="6487424"/>
            <a:ext cx="3332964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Bar Chart: Image Count Per Class</a:t>
            </a:r>
          </a:p>
        </p:txBody>
      </p:sp>
      <p:pic>
        <p:nvPicPr>
          <p:cNvPr id="5" name="Picture 4" descr="A graph of a number of images&#10;&#10;Description automatically generated">
            <a:extLst>
              <a:ext uri="{FF2B5EF4-FFF2-40B4-BE49-F238E27FC236}">
                <a16:creationId xmlns:a16="http://schemas.microsoft.com/office/drawing/2014/main" id="{4BDD8687-DF5A-2DA2-1F79-C6AAF1570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198" y="1821305"/>
            <a:ext cx="4893457" cy="44520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255" y="-4550"/>
            <a:ext cx="7290054" cy="1499616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Data Preprocessing and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878" y="5227781"/>
            <a:ext cx="8210006" cy="1628986"/>
          </a:xfrm>
        </p:spPr>
        <p:txBody>
          <a:bodyPr vert="horz" lIns="45720" tIns="45720" rIns="45720" bIns="45720" rtlCol="0" anchor="t"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>
                <a:latin typeface="Times New Roman"/>
                <a:cs typeface="Times New Roman"/>
              </a:rPr>
              <a:t>Challenges with direct augmentation: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cs typeface="Times New Roman"/>
              </a:rPr>
              <a:t>Reduced training and validation accuracy.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cs typeface="Times New Roman"/>
              </a:rPr>
              <a:t>Increased losses indicated no learning.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>
                <a:latin typeface="Times New Roman"/>
                <a:cs typeface="Times New Roman"/>
              </a:rPr>
              <a:t> Solution: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cs typeface="Times New Roman"/>
              </a:rPr>
              <a:t>Augmentation applied after the input layer for training data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3360" y="4862171"/>
            <a:ext cx="5302092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Diagram: Augmentation Applied to Training Data Only</a:t>
            </a:r>
          </a:p>
        </p:txBody>
      </p:sp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6EF3CCF5-78F9-71A0-86B8-56DF5AB43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77165"/>
            <a:ext cx="9153981" cy="3584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EfficientNetB0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4" y="2308492"/>
            <a:ext cx="4646797" cy="2823802"/>
          </a:xfrm>
        </p:spPr>
        <p:txBody>
          <a:bodyPr vert="horz" lIns="45720" tIns="45720" rIns="4572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>
                <a:latin typeface="Times New Roman"/>
                <a:cs typeface="Times New Roman"/>
              </a:rPr>
              <a:t>Base Model: Pretrained on ImageNet.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>
                <a:latin typeface="Times New Roman"/>
                <a:cs typeface="Times New Roman"/>
              </a:rPr>
              <a:t>Custom Layers:</a:t>
            </a:r>
            <a:endParaRPr lang="en-US">
              <a:latin typeface="Times New Roman"/>
              <a:cs typeface="Times New Roman"/>
            </a:endParaRPr>
          </a:p>
          <a:p>
            <a:pPr marL="447675" lvl="2">
              <a:buFont typeface="Arial" panose="020B0604020202020204" pitchFamily="34" charset="0"/>
              <a:buChar char="•"/>
            </a:pPr>
            <a:r>
              <a:rPr sz="2000">
                <a:latin typeface="Times New Roman"/>
                <a:cs typeface="Times New Roman"/>
              </a:rPr>
              <a:t>Dense layers for feature extraction.</a:t>
            </a:r>
            <a:endParaRPr lang="en-US" sz="2000">
              <a:latin typeface="Times New Roman"/>
              <a:cs typeface="Times New Roman"/>
            </a:endParaRPr>
          </a:p>
          <a:p>
            <a:pPr marL="447675" lvl="2">
              <a:buFont typeface="Arial" panose="020B0604020202020204" pitchFamily="34" charset="0"/>
              <a:buChar char="•"/>
            </a:pPr>
            <a:r>
              <a:rPr sz="2000">
                <a:latin typeface="Times New Roman"/>
                <a:cs typeface="Times New Roman"/>
              </a:rPr>
              <a:t>Dropout for regularization.</a:t>
            </a:r>
            <a:endParaRPr lang="en-US" sz="2000">
              <a:latin typeface="Times New Roman"/>
              <a:cs typeface="Times New Roman"/>
            </a:endParaRP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Batch Normalization </a:t>
            </a:r>
            <a:r>
              <a:rPr sz="2000">
                <a:latin typeface="Times New Roman"/>
                <a:cs typeface="Times New Roman"/>
              </a:rPr>
              <a:t>for stability.</a:t>
            </a:r>
            <a:endParaRPr lang="en-US" sz="2000">
              <a:latin typeface="Times New Roman"/>
              <a:cs typeface="Times New Roman"/>
            </a:endParaRPr>
          </a:p>
          <a:p>
            <a:pPr marL="447675" lvl="2">
              <a:buFont typeface="Arial" panose="020B0604020202020204" pitchFamily="34" charset="0"/>
              <a:buChar char="•"/>
            </a:pPr>
            <a:r>
              <a:rPr sz="2000" err="1">
                <a:latin typeface="Times New Roman"/>
                <a:cs typeface="Times New Roman"/>
              </a:rPr>
              <a:t>Softmax</a:t>
            </a:r>
            <a:r>
              <a:rPr sz="2000">
                <a:latin typeface="Times New Roman"/>
                <a:cs typeface="Times New Roman"/>
              </a:rPr>
              <a:t> activation for classification.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>
                <a:latin typeface="Times New Roman"/>
                <a:cs typeface="Times New Roman"/>
              </a:rPr>
              <a:t>Fine-tuning with frozen </a:t>
            </a:r>
            <a:r>
              <a:rPr lang="en-US">
                <a:latin typeface="Times New Roman"/>
                <a:cs typeface="Times New Roman"/>
              </a:rPr>
              <a:t>Batch Normalization</a:t>
            </a:r>
            <a:r>
              <a:rPr>
                <a:latin typeface="Times New Roman"/>
                <a:cs typeface="Times New Roman"/>
              </a:rPr>
              <a:t> layers to avoid instability.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1D7B13C-C843-ED91-4A03-81328D68F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259" y="1868214"/>
            <a:ext cx="4645741" cy="3448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D28BE0-22D9-AEA5-6666-602886C1DBDC}"/>
              </a:ext>
            </a:extLst>
          </p:cNvPr>
          <p:cNvSpPr txBox="1"/>
          <p:nvPr/>
        </p:nvSpPr>
        <p:spPr>
          <a:xfrm>
            <a:off x="5351557" y="5435834"/>
            <a:ext cx="29391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Diagram: Model summary</a:t>
            </a:r>
          </a:p>
          <a:p>
            <a:pPr algn="l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965" y="454587"/>
            <a:ext cx="7290054" cy="1499616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Training the EfficientNetB0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50239"/>
            <a:ext cx="5029201" cy="4912986"/>
          </a:xfrm>
        </p:spPr>
        <p:txBody>
          <a:bodyPr vert="horz" lIns="45720" tIns="45720" rIns="4572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Training settings: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Optimizer: Adam (learning rate: 0.0005).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Batch size: 10.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Epochs: 10.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Callbacks: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EarlyStopping to prevent overfitting.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 err="1">
                <a:latin typeface="Times New Roman"/>
                <a:cs typeface="Times New Roman"/>
              </a:rPr>
              <a:t>ReduceLROnPlateau</a:t>
            </a:r>
            <a:r>
              <a:rPr lang="en-US" sz="2000">
                <a:latin typeface="Times New Roman"/>
                <a:cs typeface="Times New Roman"/>
              </a:rPr>
              <a:t> for dynamic learning rate adjustment.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Results: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Improved training and validation performance.</a:t>
            </a:r>
          </a:p>
          <a:p>
            <a:r>
              <a:rPr lang="en-US">
                <a:latin typeface="Times New Roman"/>
                <a:cs typeface="Times New Roman"/>
              </a:rP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6005" y="6411275"/>
            <a:ext cx="4387355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Plots: Training and Validation Loss/Accuracy</a:t>
            </a:r>
          </a:p>
        </p:txBody>
      </p:sp>
      <p:pic>
        <p:nvPicPr>
          <p:cNvPr id="7" name="Picture 6" descr="A graph with red line and blue line&#10;&#10;Description automatically generated">
            <a:extLst>
              <a:ext uri="{FF2B5EF4-FFF2-40B4-BE49-F238E27FC236}">
                <a16:creationId xmlns:a16="http://schemas.microsoft.com/office/drawing/2014/main" id="{3DD18609-929C-2F9A-F658-0C2A7A8AA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116" y="1347573"/>
            <a:ext cx="3853885" cy="2535126"/>
          </a:xfrm>
          <a:prstGeom prst="rect">
            <a:avLst/>
          </a:prstGeom>
        </p:spPr>
      </p:pic>
      <p:pic>
        <p:nvPicPr>
          <p:cNvPr id="8" name="Picture 7" descr="A graph with green and red lines&#10;&#10;Description automatically generated">
            <a:extLst>
              <a:ext uri="{FF2B5EF4-FFF2-40B4-BE49-F238E27FC236}">
                <a16:creationId xmlns:a16="http://schemas.microsoft.com/office/drawing/2014/main" id="{208690B4-6E43-8B2A-3937-F1926AD8A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568" y="3873034"/>
            <a:ext cx="3864978" cy="2905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682" y="532965"/>
            <a:ext cx="7290054" cy="1499616"/>
          </a:xfrm>
        </p:spPr>
        <p:txBody>
          <a:bodyPr>
            <a:normAutofit/>
          </a:bodyPr>
          <a:lstStyle/>
          <a:p>
            <a:r>
              <a:rPr sz="3000" b="1">
                <a:latin typeface="Times New Roman"/>
                <a:cs typeface="Times New Roman"/>
              </a:rPr>
              <a:t>Fine-Tuning the EfficientNetB0 Model</a:t>
            </a:r>
            <a:endParaRPr lang="en-US" sz="3000" b="1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093" y="2033816"/>
            <a:ext cx="7290055" cy="1807028"/>
          </a:xfrm>
        </p:spPr>
        <p:txBody>
          <a:bodyPr vert="horz" lIns="45720" tIns="45720" rIns="45720" bIns="45720" rtlCol="0" anchor="t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>
                <a:latin typeface="Times New Roman"/>
                <a:cs typeface="Times New Roman"/>
              </a:rPr>
              <a:t>Unfroze EfficientNetB0 layers while freezing </a:t>
            </a:r>
            <a:r>
              <a:rPr err="1">
                <a:latin typeface="Times New Roman"/>
                <a:cs typeface="Times New Roman"/>
              </a:rPr>
              <a:t>BatchNormalization</a:t>
            </a:r>
            <a:r>
              <a:rPr>
                <a:latin typeface="Times New Roman"/>
                <a:cs typeface="Times New Roman"/>
              </a:rPr>
              <a:t>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>
                <a:latin typeface="Times New Roman"/>
                <a:cs typeface="Times New Roman"/>
              </a:rPr>
              <a:t>Reduced learning rate to 0.0001 for stability.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>
                <a:latin typeface="Times New Roman"/>
                <a:cs typeface="Times New Roman"/>
              </a:rPr>
              <a:t>Reused EarlyStopping and </a:t>
            </a:r>
            <a:r>
              <a:rPr err="1">
                <a:latin typeface="Times New Roman"/>
                <a:cs typeface="Times New Roman"/>
              </a:rPr>
              <a:t>ReduceLROnPlateau</a:t>
            </a:r>
            <a:r>
              <a:rPr>
                <a:latin typeface="Times New Roman"/>
                <a:cs typeface="Times New Roman"/>
              </a:rPr>
              <a:t> callbacks.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>
                <a:latin typeface="Times New Roman"/>
                <a:cs typeface="Times New Roman"/>
              </a:rPr>
              <a:t>Results: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sz="2000">
                <a:latin typeface="Times New Roman"/>
                <a:cs typeface="Times New Roman"/>
              </a:rPr>
              <a:t>Further improvement in validation accuracy and loss reduction.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17194" y="3928491"/>
            <a:ext cx="5176032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Fine-tuned</a:t>
            </a:r>
            <a:r>
              <a:rPr>
                <a:latin typeface="Times New Roman"/>
                <a:cs typeface="Times New Roman"/>
              </a:rPr>
              <a:t> Training and Validation Performance Plots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C1981C-6586-EB82-DDDE-02AAD177C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4285"/>
            <a:ext cx="4572000" cy="2546152"/>
          </a:xfrm>
          <a:prstGeom prst="rect">
            <a:avLst/>
          </a:prstGeom>
        </p:spPr>
      </p:pic>
      <p:pic>
        <p:nvPicPr>
          <p:cNvPr id="8" name="Picture 7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17DA6C71-EC12-C735-A0ED-0F43DDC85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179" y="4303904"/>
            <a:ext cx="4563641" cy="25588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8BA90A1-6BEC-48B7-BBE0-886326225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950F2D-29CC-4F1C-8AFA-D6AE15BFA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stripe on a grey background&#10;&#10;Description automatically generated">
            <a:extLst>
              <a:ext uri="{FF2B5EF4-FFF2-40B4-BE49-F238E27FC236}">
                <a16:creationId xmlns:a16="http://schemas.microsoft.com/office/drawing/2014/main" id="{AC18AE1D-D521-941B-1685-609F70173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488438"/>
            <a:ext cx="8178799" cy="1881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B5A802-B3C9-25E1-8600-8084E1740289}"/>
              </a:ext>
            </a:extLst>
          </p:cNvPr>
          <p:cNvSpPr txBox="1"/>
          <p:nvPr/>
        </p:nvSpPr>
        <p:spPr>
          <a:xfrm>
            <a:off x="1939467" y="2118322"/>
            <a:ext cx="52650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Test accuracy </a:t>
            </a:r>
            <a:r>
              <a:rPr lang="en-US" dirty="0" err="1">
                <a:latin typeface="Times New Roman"/>
                <a:cs typeface="Times New Roman"/>
              </a:rPr>
              <a:t>performanxe</a:t>
            </a:r>
            <a:r>
              <a:rPr lang="en-US" dirty="0">
                <a:latin typeface="Times New Roman"/>
                <a:cs typeface="Times New Roman"/>
              </a:rPr>
              <a:t> for EfficientNetB0 model</a:t>
            </a:r>
          </a:p>
        </p:txBody>
      </p:sp>
    </p:spTree>
    <p:extLst>
      <p:ext uri="{BB962C8B-B14F-4D97-AF65-F5344CB8AC3E}">
        <p14:creationId xmlns:p14="http://schemas.microsoft.com/office/powerpoint/2010/main" val="2178301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A6036-5978-5B0D-920D-DCC92EDB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4478529" cy="1499616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/>
                <a:ea typeface="Calibri"/>
                <a:cs typeface="Times New Roman"/>
              </a:rPr>
              <a:t>Model Architecture: ResNet50</a:t>
            </a:r>
            <a:endParaRPr lang="en-US" sz="3000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DCC5-CF16-5594-130B-E0FF4E5AF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2350185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ea typeface="Calibri"/>
                <a:cs typeface="Times New Roman"/>
              </a:rPr>
              <a:t>Base Model: ResNet-50 pretrained on ImageNet.</a:t>
            </a:r>
          </a:p>
          <a:p>
            <a:r>
              <a:rPr lang="en-US" dirty="0">
                <a:latin typeface="Times New Roman"/>
                <a:ea typeface="Calibri"/>
                <a:cs typeface="Times New Roman"/>
              </a:rPr>
              <a:t>Output Layer: Dense Layer with 100 </a:t>
            </a:r>
            <a:r>
              <a:rPr lang="en-US" dirty="0" err="1">
                <a:latin typeface="Times New Roman"/>
                <a:ea typeface="Calibri"/>
                <a:cs typeface="Times New Roman"/>
              </a:rPr>
              <a:t>softmax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nodes for classification</a:t>
            </a:r>
          </a:p>
          <a:p>
            <a:r>
              <a:rPr lang="en-US" dirty="0">
                <a:latin typeface="Times New Roman"/>
                <a:ea typeface="Calibri"/>
                <a:cs typeface="Times New Roman"/>
              </a:rPr>
              <a:t>Freezing ResNet-50 layers for transfer learning.</a:t>
            </a:r>
          </a:p>
          <a:p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endParaRPr lang="en-US" sz="14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263E583-AB33-5A32-37F0-B71376E18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791" y="2428056"/>
            <a:ext cx="6098552" cy="270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5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AC57-6392-3CD4-CD40-21F4E81F1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2350185" cy="1499616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28D34-6F28-BC94-8A8E-B5E16BB22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2350185" cy="3931920"/>
          </a:xfrm>
        </p:spPr>
        <p:txBody>
          <a:bodyPr vert="horz" lIns="45720" tIns="45720" rIns="45720" bIns="45720" rtlCol="0" anchor="t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Loss Function:</a:t>
            </a:r>
            <a:r>
              <a:rPr lang="en-US" dirty="0">
                <a:latin typeface="Times New Roman"/>
                <a:cs typeface="Times New Roman"/>
              </a:rPr>
              <a:t> Categorical </a:t>
            </a:r>
            <a:r>
              <a:rPr lang="en-US" err="1">
                <a:latin typeface="Times New Roman"/>
                <a:cs typeface="Times New Roman"/>
              </a:rPr>
              <a:t>Crossentropy</a:t>
            </a:r>
            <a:r>
              <a:rPr lang="en-US" dirty="0">
                <a:latin typeface="Times New Roman"/>
                <a:cs typeface="Times New Roman"/>
              </a:rPr>
              <a:t>.</a:t>
            </a:r>
            <a:endParaRPr lang="en-US"/>
          </a:p>
          <a:p>
            <a:r>
              <a:rPr lang="en-US" b="1" dirty="0">
                <a:latin typeface="Times New Roman"/>
                <a:cs typeface="Times New Roman"/>
              </a:rPr>
              <a:t>Optimizer:</a:t>
            </a:r>
            <a:r>
              <a:rPr lang="en-US" dirty="0">
                <a:latin typeface="Times New Roman"/>
                <a:cs typeface="Times New Roman"/>
              </a:rPr>
              <a:t> SGD (Stochastic Gradient Descent).</a:t>
            </a:r>
          </a:p>
          <a:p>
            <a:r>
              <a:rPr lang="en-US" b="1" dirty="0">
                <a:latin typeface="Times New Roman"/>
                <a:cs typeface="Times New Roman"/>
              </a:rPr>
              <a:t>Metrics:</a:t>
            </a:r>
            <a:r>
              <a:rPr lang="en-US" dirty="0">
                <a:latin typeface="Times New Roman"/>
                <a:cs typeface="Times New Roman"/>
              </a:rPr>
              <a:t> Accuracy.</a:t>
            </a:r>
          </a:p>
          <a:p>
            <a:r>
              <a:rPr lang="en-US" dirty="0">
                <a:latin typeface="Times New Roman"/>
                <a:cs typeface="Times New Roman"/>
              </a:rPr>
              <a:t>Training for 10 epochs using train and validation datasets.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81E7D25-6C69-989F-FCA9-1609EE2E3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352" y="2020687"/>
            <a:ext cx="5960604" cy="297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25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2642-621C-06EB-B178-18D63159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3905504" cy="1499616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Visualization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004657FF-38B9-9BC3-4300-9A691EE0511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271304" y="7370379"/>
            <a:ext cx="162443" cy="6901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/>
          </a:p>
        </p:txBody>
      </p:sp>
      <p:pic>
        <p:nvPicPr>
          <p:cNvPr id="3" name="Picture 2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68DCCBA2-6D3D-BFE4-351B-E2AECC18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05" y="1930236"/>
            <a:ext cx="8263466" cy="29975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5BB1B3-E7B2-8D2B-8168-AAAADD2C1AE2}"/>
              </a:ext>
            </a:extLst>
          </p:cNvPr>
          <p:cNvSpPr txBox="1"/>
          <p:nvPr/>
        </p:nvSpPr>
        <p:spPr>
          <a:xfrm>
            <a:off x="658210" y="5210503"/>
            <a:ext cx="440843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Wingdings,Sans-Serif"/>
              <a:buChar char="v"/>
            </a:pPr>
            <a:r>
              <a:rPr lang="en-US" sz="2000" dirty="0">
                <a:latin typeface="Times New Roman"/>
                <a:cs typeface="Arial"/>
              </a:rPr>
              <a:t>Results:​</a:t>
            </a:r>
          </a:p>
          <a:p>
            <a:pPr marL="447675" lvl="2" indent="-447675">
              <a:buFont typeface="Arial,Sans-Serif"/>
              <a:buChar char="•"/>
            </a:pPr>
            <a:r>
              <a:rPr lang="en-US" sz="2000" dirty="0">
                <a:latin typeface="Times New Roman"/>
                <a:cs typeface="Arial"/>
              </a:rPr>
              <a:t>Improved training and validation performance accuracy</a:t>
            </a:r>
          </a:p>
        </p:txBody>
      </p:sp>
    </p:spTree>
    <p:extLst>
      <p:ext uri="{BB962C8B-B14F-4D97-AF65-F5344CB8AC3E}">
        <p14:creationId xmlns:p14="http://schemas.microsoft.com/office/powerpoint/2010/main" val="2108465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678D-8D2D-CCB4-D50E-23A10FF1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E6E65-3138-AED6-0C2B-B8946D7E4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1905230"/>
            <a:ext cx="7290055" cy="4023360"/>
          </a:xfrm>
        </p:spPr>
        <p:txBody>
          <a:bodyPr/>
          <a:lstStyle/>
          <a:p>
            <a:pPr algn="l"/>
            <a:r>
              <a:rPr lang="en-US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 Used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Measures the error during the evaluation process.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loss values indicate better model predictions.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from the evaluation: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= 0.1547</a:t>
            </a:r>
            <a:endParaRPr lang="en-US" b="0" i="0" u="none" strike="noStrike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Percentage of correct predictions made by the model.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indicates the model is correctly classifying most of the input images.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from </a:t>
            </a: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evaluation: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= 96.20%</a:t>
            </a:r>
            <a:endParaRPr lang="en-US" b="0" i="0" u="none" strike="noStrike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61484B-4925-E7FC-BF4A-E9C96D19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5208024"/>
            <a:ext cx="7772400" cy="144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25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687" y="549310"/>
            <a:ext cx="7290054" cy="1499616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Combining EfficientNetB0 and ResNet50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255" y="2046915"/>
            <a:ext cx="9145185" cy="2762159"/>
          </a:xfrm>
        </p:spPr>
        <p:txBody>
          <a:bodyPr vert="horz" lIns="45720" tIns="45720" rIns="4572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Ensemble Method: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Weighted averaging of predictions from both models.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EfficientNetB0 and ResNet50 assigned weights based on each model's validation and prediction performances.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Results: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Achieved a high performance from combined predictions in ensemble model.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Advantages: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Leverages strengths of both models.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Reduces individual model biases and overfitting in general.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Improves generalization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which makes the combined model likely perform better on unseen data compared to a single model.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5EB7-4AA9-C020-CA53-F9C52961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06" y="516977"/>
            <a:ext cx="8040680" cy="1499616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/>
                <a:ea typeface="+mj-lt"/>
                <a:cs typeface="+mj-lt"/>
              </a:rPr>
              <a:t>Diagram: Ensemble Prediction Process</a:t>
            </a:r>
          </a:p>
        </p:txBody>
      </p:sp>
      <p:pic>
        <p:nvPicPr>
          <p:cNvPr id="4" name="Picture 3" descr="A computer screen with white and green text&#10;&#10;Description automatically generated">
            <a:extLst>
              <a:ext uri="{FF2B5EF4-FFF2-40B4-BE49-F238E27FC236}">
                <a16:creationId xmlns:a16="http://schemas.microsoft.com/office/drawing/2014/main" id="{89FEAC0E-40B6-7F9E-CCDE-A2FA61328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5572"/>
            <a:ext cx="9144000" cy="1924050"/>
          </a:xfrm>
          <a:prstGeom prst="rect">
            <a:avLst/>
          </a:prstGeom>
        </p:spPr>
      </p:pic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6974944-BF66-AC36-6E56-BB9BDD50D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87" y="3814577"/>
            <a:ext cx="7438028" cy="303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11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for Ensemble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87" y="1932432"/>
            <a:ext cx="4786341" cy="1920240"/>
          </a:xfrm>
        </p:spPr>
        <p:txBody>
          <a:bodyPr vert="horz" lIns="45720" tIns="45720" rIns="4572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>
                <a:latin typeface="Times New Roman"/>
                <a:cs typeface="Times New Roman"/>
              </a:rPr>
              <a:t>Achieved Accuracy: 90%.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>
                <a:latin typeface="Times New Roman"/>
                <a:cs typeface="Times New Roman"/>
              </a:rPr>
              <a:t>Metrics explained: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Precision: True positives among predicted positives.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Recall: True positives among actual positives.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F1-Score: Balances precision and recall.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Confusion Matrix: Breakdown of true vs. predicted classes.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7632" y="6397906"/>
            <a:ext cx="4588627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/>
              <a:t>Snippet of Ensemble model Classification</a:t>
            </a:r>
            <a:r>
              <a:t> Report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188BE5B-1B0B-D3F9-988A-CC58B7B6B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975" y="1673866"/>
            <a:ext cx="3588798" cy="2428782"/>
          </a:xfrm>
          <a:prstGeom prst="rect">
            <a:avLst/>
          </a:prstGeom>
        </p:spPr>
      </p:pic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7EF1358-F61E-318A-6776-E80C18346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433" y="4106500"/>
            <a:ext cx="3591411" cy="21650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Visualizing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173" y="2056349"/>
            <a:ext cx="7290055" cy="13543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Visualized predictions from EfficientNetB0, ResNet50, and ensemble model.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misclassifications with high confidence.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1460" y="6478981"/>
            <a:ext cx="36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Grid: True Labels vs. Predictions</a:t>
            </a:r>
          </a:p>
        </p:txBody>
      </p:sp>
      <p:pic>
        <p:nvPicPr>
          <p:cNvPr id="6" name="Picture 5" descr="A graph with a line&#10;&#10;Description automatically generated">
            <a:extLst>
              <a:ext uri="{FF2B5EF4-FFF2-40B4-BE49-F238E27FC236}">
                <a16:creationId xmlns:a16="http://schemas.microsoft.com/office/drawing/2014/main" id="{C737A914-B4E8-EDAF-F0AC-CECE24DD6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3" y="2975788"/>
            <a:ext cx="9151644" cy="35003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Summary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2688336"/>
          </a:xfrm>
        </p:spPr>
        <p:txBody>
          <a:bodyPr vert="horz" lIns="45720" tIns="45720" rIns="4572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EfficientNetB0 and ResNet50 proved effective for sports image classification.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Ensemble learning improved generalization, and robustness.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/>
                <a:cs typeface="Times New Roman"/>
              </a:rPr>
              <a:t>Future Work: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Experiment with different ensemble strategies.</a:t>
            </a:r>
          </a:p>
          <a:p>
            <a:pPr marL="447675" lvl="2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Test on larger datasets.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9F4B-88AE-AA8E-9541-253A9163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2DF9F-4508-B36C-E79B-8A9C2A9C2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100 Sports Image Classification</a:t>
            </a:r>
            <a:r>
              <a:rPr lang="en-US" sz="14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(2023, May 3). Kaggle. </a:t>
            </a:r>
            <a:r>
              <a:rPr lang="en-US" sz="1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https://www.kaggle.com/datasets/gpiosenka/sports-classification/data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Affonso, C., Rossi, A. L. D., Vieira, F. H. A., &amp; de Leon Ferreira, A. C. P. (2017). Deep learning for biological image classification. </a:t>
            </a:r>
            <a:r>
              <a:rPr lang="en-US" sz="140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Expert systems with applications</a:t>
            </a:r>
            <a:r>
              <a:rPr lang="en-US" sz="14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85</a:t>
            </a:r>
            <a:r>
              <a:rPr lang="en-US" sz="14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114-122.</a:t>
            </a:r>
            <a:endParaRPr lang="en-US" sz="1400" u="sng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Hamedghorbani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(2023b, July 17). 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100 Sports Classification - EfficientNetB0 | 97.8%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Kaggle. 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3"/>
              </a:rPr>
              <a:t>https://www.kaggle.com/code/hamedghorbani/100-sports-classification-efficientnetb0-97-8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Ishaparanjpe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(2023, April 19). 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sports classification RESNET transfer learning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Kaggle. </a:t>
            </a:r>
            <a:r>
              <a:rPr lang="en-US" sz="1400" b="0" i="0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4"/>
              </a:rPr>
              <a:t>https://www.kaggle.com/code/ishaparanjpe/sports-classification-resnet-transfer-learning/notebook</a:t>
            </a:r>
            <a:endParaRPr lang="en-US" sz="1400" b="0" i="0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Liu, X. (2024). Comparison of Four Convolutional Neural Network-Based Algorithms for Sports Image Classification. In 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Advances in intelligent systems research/Advances in Intelligent Systems Research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(pp. 178–186). 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5"/>
              </a:rPr>
              <a:t>https://doi.org/10.2991/978-94-6463-370-2_20</a:t>
            </a:r>
            <a:endParaRPr lang="en-US" sz="1400" b="0" i="0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Podgorelec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V.,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Pečnik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Š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., &amp;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Vrbančič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G. (2020). Classification of Similar Sports Images Using Convolutional Neural Network with Hyper-Parameter Optimization. 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Applied Sciences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10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(23), 8494. 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6"/>
              </a:rPr>
              <a:t>https://doi.org/10.3390/app10238494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0" i="0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US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36166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1047</Words>
  <Application>Microsoft Office PowerPoint</Application>
  <PresentationFormat>On-screen Show (4:3)</PresentationFormat>
  <Paragraphs>144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Integral</vt:lpstr>
      <vt:lpstr>100 Sports Image Classification Using EfficientNetB0 and ResNet50</vt:lpstr>
      <vt:lpstr>Overview</vt:lpstr>
      <vt:lpstr>Block Diagrams</vt:lpstr>
      <vt:lpstr>Dataset Preparation</vt:lpstr>
      <vt:lpstr>Data Preprocessing and Augmentation</vt:lpstr>
      <vt:lpstr>EfficientNetB0 Model Architecture</vt:lpstr>
      <vt:lpstr>Training the EfficientNetB0 Model</vt:lpstr>
      <vt:lpstr>Fine-Tuning the EfficientNetB0 Model</vt:lpstr>
      <vt:lpstr>PowerPoint Presentation</vt:lpstr>
      <vt:lpstr>Model Architecture: ResNet50</vt:lpstr>
      <vt:lpstr>Training Setup</vt:lpstr>
      <vt:lpstr>Result Visualization</vt:lpstr>
      <vt:lpstr>Model evaluation</vt:lpstr>
      <vt:lpstr>Combining EfficientNetB0 and ResNet50 Predictions</vt:lpstr>
      <vt:lpstr>Diagram: Ensemble Prediction Process</vt:lpstr>
      <vt:lpstr>Evaluation Metrics for Ensemble Model</vt:lpstr>
      <vt:lpstr>Visualizing Predictions</vt:lpstr>
      <vt:lpstr>Summary and Key Takeaways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Image Classification Using EfficientNet and ResNet50</dc:title>
  <dc:subject/>
  <dc:creator>JOHN YARE</dc:creator>
  <cp:keywords/>
  <dc:description>generated using python-pptx</dc:description>
  <cp:lastModifiedBy>Joshua Adegbola</cp:lastModifiedBy>
  <cp:revision>380</cp:revision>
  <dcterms:created xsi:type="dcterms:W3CDTF">2013-01-27T09:14:16Z</dcterms:created>
  <dcterms:modified xsi:type="dcterms:W3CDTF">2025-06-24T14:45:28Z</dcterms:modified>
  <cp:category/>
</cp:coreProperties>
</file>